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51435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D74B"/>
    <a:srgbClr val="2FCA47"/>
    <a:srgbClr val="2FCC47"/>
    <a:srgbClr val="00F2FF"/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726" autoAdjust="0"/>
  </p:normalViewPr>
  <p:slideViewPr>
    <p:cSldViewPr snapToGrid="0" snapToObjects="1">
      <p:cViewPr varScale="1">
        <p:scale>
          <a:sx n="140" d="100"/>
          <a:sy n="14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64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95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28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F2FF">
              <a:alpha val="8000"/>
            </a:srgbClr>
          </a:solidFill>
          <a:ln w="6350">
            <a:solidFill>
              <a:srgbClr val="00F2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 w="635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Loading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3200400" y="3170682"/>
            <a:ext cx="2743200" cy="36576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423694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Project 1: Snake Game (C 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Project 2: CNC Plotter (Arduino)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64008" cy="457200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🐍</a:t>
            </a:r>
            <a:r>
              <a:rPr lang="ar-EG" sz="2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Snake Game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86868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Project Name - Language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114800" cy="12344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Brief Description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115056"/>
            <a:ext cx="4114800" cy="16916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How to Use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49300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187452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914400"/>
            <a:ext cx="41148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7294" y="2886710"/>
            <a:ext cx="4114800" cy="192024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88036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BDBE57-F351-996B-B286-88FC4ACD77DC}"/>
              </a:ext>
            </a:extLst>
          </p:cNvPr>
          <p:cNvSpPr txBox="1"/>
          <p:nvPr/>
        </p:nvSpPr>
        <p:spPr>
          <a:xfrm>
            <a:off x="457200" y="1327670"/>
            <a:ext cx="296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F2FF"/>
                </a:solidFill>
              </a:rPr>
              <a:t>Snake Game – C using </a:t>
            </a:r>
            <a:r>
              <a:rPr lang="en-US" sz="1400" dirty="0" err="1">
                <a:solidFill>
                  <a:srgbClr val="00F2FF"/>
                </a:solidFill>
              </a:rPr>
              <a:t>Graphics.h</a:t>
            </a:r>
            <a:endParaRPr lang="en-US" sz="1400" dirty="0">
              <a:solidFill>
                <a:srgbClr val="00F2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93B76B-53AE-744A-16ED-9084410551C3}"/>
              </a:ext>
            </a:extLst>
          </p:cNvPr>
          <p:cNvSpPr txBox="1"/>
          <p:nvPr/>
        </p:nvSpPr>
        <p:spPr>
          <a:xfrm>
            <a:off x="480060" y="2162994"/>
            <a:ext cx="379476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F2FF"/>
                </a:solidFill>
              </a:rPr>
              <a:t>This project is a classic Snake Game developed using C language and the </a:t>
            </a:r>
            <a:r>
              <a:rPr lang="en-US" sz="1050" dirty="0" err="1">
                <a:solidFill>
                  <a:srgbClr val="00F2FF"/>
                </a:solidFill>
              </a:rPr>
              <a:t>graphics.h</a:t>
            </a:r>
            <a:r>
              <a:rPr lang="en-US" sz="1050" dirty="0">
                <a:solidFill>
                  <a:srgbClr val="00F2FF"/>
                </a:solidFill>
              </a:rPr>
              <a:t> library . The player controls a snake that moves around the screen to eat food . Each time the snake eats food, it grows longer and the score increases . The game ends if the snake hits the wall or collides with itself.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6DE864-80B7-2324-C9A7-811DAB6A5945}"/>
              </a:ext>
            </a:extLst>
          </p:cNvPr>
          <p:cNvSpPr txBox="1"/>
          <p:nvPr/>
        </p:nvSpPr>
        <p:spPr>
          <a:xfrm>
            <a:off x="553453" y="3493008"/>
            <a:ext cx="3758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F2FF"/>
                </a:solidFill>
              </a:rPr>
              <a:t> Use W, A, S, D keys to control the snake direction:     W → Up   S → Down A → Left D → Right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F2FF"/>
                </a:solidFill>
              </a:rPr>
              <a:t> Eat the yellow food to increase your score and snake length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F2FF"/>
                </a:solidFill>
              </a:rPr>
              <a:t> Avoid hitting the walls or the snake’s own body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F2FF"/>
                </a:solidFill>
              </a:rPr>
              <a:t> The game ends when a collision occurs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64008" cy="457200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Snake Game (Final Code)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56488" y="868680"/>
            <a:ext cx="2258912" cy="4264152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4864"/>
          </a:xfrm>
          <a:prstGeom prst="rect">
            <a:avLst/>
          </a:prstGeom>
          <a:solidFill>
            <a:srgbClr val="32D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229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0" y="896112"/>
            <a:ext cx="1005840" cy="256032"/>
          </a:xfrm>
          <a:prstGeom prst="rect">
            <a:avLst/>
          </a:prstGeom>
          <a:solidFill>
            <a:srgbClr val="1A3A2A"/>
          </a:solidFill>
          <a:ln w="9525">
            <a:solidFill>
              <a:srgbClr val="32D7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0" y="8961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2D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Language</a:t>
            </a:r>
            <a:endParaRPr lang="en-US" sz="8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1FC8F216-00E3-B4D1-846A-BF6D6A36B3E4}"/>
              </a:ext>
            </a:extLst>
          </p:cNvPr>
          <p:cNvSpPr/>
          <p:nvPr/>
        </p:nvSpPr>
        <p:spPr>
          <a:xfrm>
            <a:off x="320042" y="923544"/>
            <a:ext cx="1818620" cy="4219956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7BAD53-253C-5892-276F-725EAA48539D}"/>
              </a:ext>
            </a:extLst>
          </p:cNvPr>
          <p:cNvSpPr txBox="1"/>
          <p:nvPr/>
        </p:nvSpPr>
        <p:spPr>
          <a:xfrm>
            <a:off x="321122" y="934212"/>
            <a:ext cx="13150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2FCC47"/>
                </a:solidFill>
              </a:rPr>
              <a:t>#include &lt;</a:t>
            </a:r>
            <a:r>
              <a:rPr lang="en-US" sz="700" dirty="0" err="1">
                <a:solidFill>
                  <a:srgbClr val="2FCC47"/>
                </a:solidFill>
              </a:rPr>
              <a:t>graphics.h</a:t>
            </a:r>
            <a:r>
              <a:rPr lang="en-US" sz="700" dirty="0">
                <a:solidFill>
                  <a:srgbClr val="2FCC47"/>
                </a:solidFill>
              </a:rPr>
              <a:t>&gt;</a:t>
            </a:r>
          </a:p>
          <a:p>
            <a:r>
              <a:rPr lang="en-US" sz="700" dirty="0">
                <a:solidFill>
                  <a:srgbClr val="2FCC47"/>
                </a:solidFill>
              </a:rPr>
              <a:t>#include &lt;</a:t>
            </a:r>
            <a:r>
              <a:rPr lang="en-US" sz="700" dirty="0" err="1">
                <a:solidFill>
                  <a:srgbClr val="2FCC47"/>
                </a:solidFill>
              </a:rPr>
              <a:t>conio.h</a:t>
            </a:r>
            <a:r>
              <a:rPr lang="en-US" sz="700" dirty="0">
                <a:solidFill>
                  <a:srgbClr val="2FCC47"/>
                </a:solidFill>
              </a:rPr>
              <a:t>&gt;</a:t>
            </a:r>
          </a:p>
          <a:p>
            <a:r>
              <a:rPr lang="en-US" sz="700" dirty="0">
                <a:solidFill>
                  <a:srgbClr val="2FCC47"/>
                </a:solidFill>
              </a:rPr>
              <a:t>#include &lt;</a:t>
            </a:r>
            <a:r>
              <a:rPr lang="en-US" sz="700" dirty="0" err="1">
                <a:solidFill>
                  <a:srgbClr val="2FCC47"/>
                </a:solidFill>
              </a:rPr>
              <a:t>dos.h</a:t>
            </a:r>
            <a:r>
              <a:rPr lang="en-US" sz="700" dirty="0">
                <a:solidFill>
                  <a:srgbClr val="2FCC47"/>
                </a:solidFill>
              </a:rPr>
              <a:t>&gt;</a:t>
            </a:r>
          </a:p>
          <a:p>
            <a:r>
              <a:rPr lang="en-US" sz="700" dirty="0">
                <a:solidFill>
                  <a:srgbClr val="2FCC47"/>
                </a:solidFill>
              </a:rPr>
              <a:t>#include &lt;</a:t>
            </a:r>
            <a:r>
              <a:rPr lang="en-US" sz="700" dirty="0" err="1">
                <a:solidFill>
                  <a:srgbClr val="2FCC47"/>
                </a:solidFill>
              </a:rPr>
              <a:t>stdlib.h</a:t>
            </a:r>
            <a:r>
              <a:rPr lang="en-US" sz="700" dirty="0">
                <a:solidFill>
                  <a:srgbClr val="2FCC47"/>
                </a:solidFill>
              </a:rPr>
              <a:t>&gt;</a:t>
            </a:r>
          </a:p>
          <a:p>
            <a:r>
              <a:rPr lang="en-US" sz="700" dirty="0">
                <a:solidFill>
                  <a:srgbClr val="2FCC47"/>
                </a:solidFill>
              </a:rPr>
              <a:t>#include &lt;</a:t>
            </a:r>
            <a:r>
              <a:rPr lang="en-US" sz="700" dirty="0" err="1">
                <a:solidFill>
                  <a:srgbClr val="2FCC47"/>
                </a:solidFill>
              </a:rPr>
              <a:t>stdio.h</a:t>
            </a:r>
            <a:r>
              <a:rPr lang="en-US" sz="700" dirty="0">
                <a:solidFill>
                  <a:srgbClr val="2FCC47"/>
                </a:solidFill>
              </a:rPr>
              <a:t>&gt;</a:t>
            </a:r>
          </a:p>
          <a:p>
            <a:endParaRPr lang="en-US" sz="700" dirty="0">
              <a:solidFill>
                <a:srgbClr val="2FCC47"/>
              </a:solidFill>
            </a:endParaRPr>
          </a:p>
          <a:p>
            <a:r>
              <a:rPr lang="en-US" sz="700" dirty="0">
                <a:solidFill>
                  <a:srgbClr val="2FCC47"/>
                </a:solidFill>
              </a:rPr>
              <a:t>int x[50], y[50];</a:t>
            </a:r>
          </a:p>
          <a:p>
            <a:r>
              <a:rPr lang="en-US" sz="700" dirty="0">
                <a:solidFill>
                  <a:srgbClr val="2FCC47"/>
                </a:solidFill>
              </a:rPr>
              <a:t>int length = 5;</a:t>
            </a:r>
          </a:p>
          <a:p>
            <a:endParaRPr lang="en-US" sz="700" dirty="0">
              <a:solidFill>
                <a:srgbClr val="2FCC47"/>
              </a:solidFill>
            </a:endParaRPr>
          </a:p>
          <a:p>
            <a:r>
              <a:rPr lang="en-US" sz="700" dirty="0">
                <a:solidFill>
                  <a:srgbClr val="2FCC47"/>
                </a:solidFill>
              </a:rPr>
              <a:t>int </a:t>
            </a:r>
            <a:r>
              <a:rPr lang="en-US" sz="700" dirty="0" err="1">
                <a:solidFill>
                  <a:srgbClr val="2FCC47"/>
                </a:solidFill>
              </a:rPr>
              <a:t>foodx</a:t>
            </a:r>
            <a:r>
              <a:rPr lang="en-US" sz="700" dirty="0">
                <a:solidFill>
                  <a:srgbClr val="2FCC47"/>
                </a:solidFill>
              </a:rPr>
              <a:t>, foody;</a:t>
            </a:r>
          </a:p>
          <a:p>
            <a:r>
              <a:rPr lang="en-US" sz="700" dirty="0">
                <a:solidFill>
                  <a:srgbClr val="2FCC47"/>
                </a:solidFill>
              </a:rPr>
              <a:t>char </a:t>
            </a:r>
            <a:r>
              <a:rPr lang="en-US" sz="700" dirty="0" err="1">
                <a:solidFill>
                  <a:srgbClr val="2FCC47"/>
                </a:solidFill>
              </a:rPr>
              <a:t>dir</a:t>
            </a:r>
            <a:r>
              <a:rPr lang="en-US" sz="700" dirty="0">
                <a:solidFill>
                  <a:srgbClr val="2FCC47"/>
                </a:solidFill>
              </a:rPr>
              <a:t> = 'R';</a:t>
            </a:r>
          </a:p>
          <a:p>
            <a:r>
              <a:rPr lang="en-US" sz="700" dirty="0">
                <a:solidFill>
                  <a:srgbClr val="2FCC47"/>
                </a:solidFill>
              </a:rPr>
              <a:t>int score = 0;</a:t>
            </a:r>
          </a:p>
          <a:p>
            <a:endParaRPr lang="en-US" sz="700" dirty="0">
              <a:solidFill>
                <a:srgbClr val="2FCC47"/>
              </a:solidFill>
            </a:endParaRPr>
          </a:p>
          <a:p>
            <a:r>
              <a:rPr lang="en-US" sz="700" dirty="0">
                <a:solidFill>
                  <a:srgbClr val="2FCC47"/>
                </a:solidFill>
              </a:rPr>
              <a:t>void </a:t>
            </a:r>
            <a:r>
              <a:rPr lang="en-US" sz="700" dirty="0" err="1">
                <a:solidFill>
                  <a:srgbClr val="2FCC47"/>
                </a:solidFill>
              </a:rPr>
              <a:t>drawGrid</a:t>
            </a:r>
            <a:r>
              <a:rPr lang="en-US" sz="700" dirty="0">
                <a:solidFill>
                  <a:srgbClr val="2FCC47"/>
                </a:solidFill>
              </a:rPr>
              <a:t>() {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int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;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</a:t>
            </a:r>
            <a:r>
              <a:rPr lang="en-US" sz="700" dirty="0" err="1">
                <a:solidFill>
                  <a:srgbClr val="2FCC47"/>
                </a:solidFill>
              </a:rPr>
              <a:t>setcolor</a:t>
            </a:r>
            <a:r>
              <a:rPr lang="en-US" sz="700" dirty="0">
                <a:solidFill>
                  <a:srgbClr val="2FCC47"/>
                </a:solidFill>
              </a:rPr>
              <a:t>(LIGHTGRAY);</a:t>
            </a:r>
          </a:p>
          <a:p>
            <a:endParaRPr lang="en-US" sz="700" dirty="0">
              <a:solidFill>
                <a:srgbClr val="2FCC47"/>
              </a:solidFill>
            </a:endParaRPr>
          </a:p>
          <a:p>
            <a:r>
              <a:rPr lang="en-US" sz="700" dirty="0">
                <a:solidFill>
                  <a:srgbClr val="2FCC47"/>
                </a:solidFill>
              </a:rPr>
              <a:t>    for(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 = 0;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 &lt; 640;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 += 8)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    line(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, 0,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, 480);</a:t>
            </a:r>
          </a:p>
          <a:p>
            <a:endParaRPr lang="en-US" sz="700" dirty="0">
              <a:solidFill>
                <a:srgbClr val="2FCC47"/>
              </a:solidFill>
            </a:endParaRPr>
          </a:p>
          <a:p>
            <a:r>
              <a:rPr lang="en-US" sz="700" dirty="0">
                <a:solidFill>
                  <a:srgbClr val="2FCC47"/>
                </a:solidFill>
              </a:rPr>
              <a:t>    for(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 = 0;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 &lt; 480;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 += 8)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    line(0,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, 640,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);</a:t>
            </a:r>
          </a:p>
          <a:p>
            <a:r>
              <a:rPr lang="en-US" sz="700" dirty="0">
                <a:solidFill>
                  <a:srgbClr val="2FCC47"/>
                </a:solidFill>
              </a:rPr>
              <a:t>}</a:t>
            </a:r>
          </a:p>
          <a:p>
            <a:r>
              <a:rPr lang="en-US" sz="700" dirty="0">
                <a:solidFill>
                  <a:srgbClr val="2FCC47"/>
                </a:solidFill>
              </a:rPr>
              <a:t>void </a:t>
            </a:r>
            <a:r>
              <a:rPr lang="en-US" sz="700" dirty="0" err="1">
                <a:solidFill>
                  <a:srgbClr val="2FCC47"/>
                </a:solidFill>
              </a:rPr>
              <a:t>drawSnake</a:t>
            </a:r>
            <a:r>
              <a:rPr lang="en-US" sz="700" dirty="0">
                <a:solidFill>
                  <a:srgbClr val="2FCC47"/>
                </a:solidFill>
              </a:rPr>
              <a:t>() {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int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;</a:t>
            </a:r>
          </a:p>
          <a:p>
            <a:endParaRPr lang="en-US" sz="700" dirty="0">
              <a:solidFill>
                <a:srgbClr val="2FCC47"/>
              </a:solidFill>
            </a:endParaRPr>
          </a:p>
          <a:p>
            <a:r>
              <a:rPr lang="en-US" sz="700" dirty="0">
                <a:solidFill>
                  <a:srgbClr val="2FCC47"/>
                </a:solidFill>
              </a:rPr>
              <a:t>    for(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 = 1;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 &lt; length-1; 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++) {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    </a:t>
            </a:r>
            <a:r>
              <a:rPr lang="en-US" sz="700" dirty="0" err="1">
                <a:solidFill>
                  <a:srgbClr val="2FCC47"/>
                </a:solidFill>
              </a:rPr>
              <a:t>setfillstyle</a:t>
            </a:r>
            <a:r>
              <a:rPr lang="en-US" sz="700" dirty="0">
                <a:solidFill>
                  <a:srgbClr val="2FCC47"/>
                </a:solidFill>
              </a:rPr>
              <a:t>(SOLID_FILL, RED);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    bar(x[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], y[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], x[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]+8, y[</a:t>
            </a:r>
            <a:r>
              <a:rPr lang="en-US" sz="700" dirty="0" err="1">
                <a:solidFill>
                  <a:srgbClr val="2FCC47"/>
                </a:solidFill>
              </a:rPr>
              <a:t>i</a:t>
            </a:r>
            <a:r>
              <a:rPr lang="en-US" sz="700" dirty="0">
                <a:solidFill>
                  <a:srgbClr val="2FCC47"/>
                </a:solidFill>
              </a:rPr>
              <a:t>]+8);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}</a:t>
            </a:r>
          </a:p>
          <a:p>
            <a:r>
              <a:rPr lang="en-US" sz="700" dirty="0">
                <a:solidFill>
                  <a:srgbClr val="2FCC47"/>
                </a:solidFill>
              </a:rPr>
              <a:t> </a:t>
            </a:r>
            <a:r>
              <a:rPr lang="en-US" sz="700" dirty="0" err="1">
                <a:solidFill>
                  <a:srgbClr val="2FCC47"/>
                </a:solidFill>
              </a:rPr>
              <a:t>setfillstyle</a:t>
            </a:r>
            <a:r>
              <a:rPr lang="en-US" sz="700" dirty="0">
                <a:solidFill>
                  <a:srgbClr val="2FCC47"/>
                </a:solidFill>
              </a:rPr>
              <a:t>(SOLID_FILL, RED);</a:t>
            </a:r>
          </a:p>
          <a:p>
            <a:r>
              <a:rPr lang="en-US" sz="700" dirty="0">
                <a:solidFill>
                  <a:srgbClr val="2FCC47"/>
                </a:solidFill>
              </a:rPr>
              <a:t>    bar(x[0], y[0], x[0]+8, y[0]+8);</a:t>
            </a:r>
          </a:p>
          <a:p>
            <a:endParaRPr lang="en-US" sz="700" dirty="0">
              <a:solidFill>
                <a:srgbClr val="2FCC47"/>
              </a:solidFill>
            </a:endParaRPr>
          </a:p>
          <a:p>
            <a:endParaRPr lang="en-US" sz="700" dirty="0">
              <a:solidFill>
                <a:srgbClr val="2FCC4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0E088E-A4E8-7BCC-9504-53098A75B591}"/>
              </a:ext>
            </a:extLst>
          </p:cNvPr>
          <p:cNvSpPr txBox="1"/>
          <p:nvPr/>
        </p:nvSpPr>
        <p:spPr>
          <a:xfrm>
            <a:off x="6649412" y="1173182"/>
            <a:ext cx="17213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2D74B"/>
                </a:solidFill>
              </a:rPr>
              <a:t> </a:t>
            </a:r>
            <a:r>
              <a:rPr lang="en-US" sz="700" dirty="0" err="1">
                <a:solidFill>
                  <a:srgbClr val="32D74B"/>
                </a:solidFill>
              </a:rPr>
              <a:t>sprintf</a:t>
            </a:r>
            <a:r>
              <a:rPr lang="en-US" sz="700" dirty="0">
                <a:solidFill>
                  <a:srgbClr val="32D74B"/>
                </a:solidFill>
              </a:rPr>
              <a:t>(</a:t>
            </a:r>
            <a:r>
              <a:rPr lang="en-US" sz="700" dirty="0" err="1">
                <a:solidFill>
                  <a:srgbClr val="32D74B"/>
                </a:solidFill>
              </a:rPr>
              <a:t>scoreText</a:t>
            </a:r>
            <a:r>
              <a:rPr lang="en-US" sz="700" dirty="0">
                <a:solidFill>
                  <a:srgbClr val="32D74B"/>
                </a:solidFill>
              </a:rPr>
              <a:t>, "Score: %d", score);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</a:t>
            </a:r>
            <a:r>
              <a:rPr lang="en-US" sz="700" dirty="0" err="1">
                <a:solidFill>
                  <a:srgbClr val="32D74B"/>
                </a:solidFill>
              </a:rPr>
              <a:t>outtextxy</a:t>
            </a:r>
            <a:r>
              <a:rPr lang="en-US" sz="700" dirty="0">
                <a:solidFill>
                  <a:srgbClr val="32D74B"/>
                </a:solidFill>
              </a:rPr>
              <a:t>(500, 10, </a:t>
            </a:r>
            <a:r>
              <a:rPr lang="en-US" sz="700" dirty="0" err="1">
                <a:solidFill>
                  <a:srgbClr val="32D74B"/>
                </a:solidFill>
              </a:rPr>
              <a:t>scoreText</a:t>
            </a:r>
            <a:r>
              <a:rPr lang="en-US" sz="700" dirty="0">
                <a:solidFill>
                  <a:srgbClr val="32D74B"/>
                </a:solidFill>
              </a:rPr>
              <a:t>);</a:t>
            </a:r>
          </a:p>
          <a:p>
            <a:r>
              <a:rPr lang="en-US" sz="700" dirty="0" err="1">
                <a:solidFill>
                  <a:srgbClr val="32D74B"/>
                </a:solidFill>
              </a:rPr>
              <a:t>setfillstyle</a:t>
            </a:r>
            <a:r>
              <a:rPr lang="en-US" sz="700" dirty="0">
                <a:solidFill>
                  <a:srgbClr val="32D74B"/>
                </a:solidFill>
              </a:rPr>
              <a:t>(SOLID_FILL, YELLOW);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</a:t>
            </a:r>
            <a:r>
              <a:rPr lang="en-US" sz="700" dirty="0" err="1">
                <a:solidFill>
                  <a:srgbClr val="32D74B"/>
                </a:solidFill>
              </a:rPr>
              <a:t>fillellipse</a:t>
            </a:r>
            <a:r>
              <a:rPr lang="en-US" sz="700" dirty="0">
                <a:solidFill>
                  <a:srgbClr val="32D74B"/>
                </a:solidFill>
              </a:rPr>
              <a:t>(foodx+4, foody+4, 4, 4);</a:t>
            </a:r>
          </a:p>
          <a:p>
            <a:endParaRPr lang="en-US" sz="700" dirty="0">
              <a:solidFill>
                <a:srgbClr val="32D74B"/>
              </a:solidFill>
            </a:endParaRPr>
          </a:p>
          <a:p>
            <a:r>
              <a:rPr lang="en-US" sz="700" dirty="0">
                <a:solidFill>
                  <a:srgbClr val="32D74B"/>
                </a:solidFill>
              </a:rPr>
              <a:t>        </a:t>
            </a:r>
            <a:r>
              <a:rPr lang="en-US" sz="700" dirty="0" err="1">
                <a:solidFill>
                  <a:srgbClr val="32D74B"/>
                </a:solidFill>
              </a:rPr>
              <a:t>drawSnake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</a:t>
            </a:r>
            <a:r>
              <a:rPr lang="en-US" sz="700" dirty="0" err="1">
                <a:solidFill>
                  <a:srgbClr val="32D74B"/>
                </a:solidFill>
              </a:rPr>
              <a:t>moveSnake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if(abs(x[0] - </a:t>
            </a:r>
            <a:r>
              <a:rPr lang="en-US" sz="700" dirty="0" err="1">
                <a:solidFill>
                  <a:srgbClr val="32D74B"/>
                </a:solidFill>
              </a:rPr>
              <a:t>foodx</a:t>
            </a:r>
            <a:r>
              <a:rPr lang="en-US" sz="700" dirty="0">
                <a:solidFill>
                  <a:srgbClr val="32D74B"/>
                </a:solidFill>
              </a:rPr>
              <a:t>) &lt; 8 &amp;&amp; abs(y[0] - foody) &lt; 8)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if(length &lt; 50) length++;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score += 10;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</a:t>
            </a:r>
            <a:r>
              <a:rPr lang="en-US" sz="700" dirty="0" err="1">
                <a:solidFill>
                  <a:srgbClr val="32D74B"/>
                </a:solidFill>
              </a:rPr>
              <a:t>generateFood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}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if(</a:t>
            </a:r>
            <a:r>
              <a:rPr lang="en-US" sz="700" dirty="0" err="1">
                <a:solidFill>
                  <a:srgbClr val="32D74B"/>
                </a:solidFill>
              </a:rPr>
              <a:t>kbhit</a:t>
            </a:r>
            <a:r>
              <a:rPr lang="en-US" sz="700" dirty="0">
                <a:solidFill>
                  <a:srgbClr val="32D74B"/>
                </a:solidFill>
              </a:rPr>
              <a:t>())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char </a:t>
            </a:r>
            <a:r>
              <a:rPr lang="en-US" sz="700" dirty="0" err="1">
                <a:solidFill>
                  <a:srgbClr val="32D74B"/>
                </a:solidFill>
              </a:rPr>
              <a:t>ch</a:t>
            </a:r>
            <a:r>
              <a:rPr lang="en-US" sz="700" dirty="0">
                <a:solidFill>
                  <a:srgbClr val="32D74B"/>
                </a:solidFill>
              </a:rPr>
              <a:t> = </a:t>
            </a:r>
            <a:r>
              <a:rPr lang="en-US" sz="700" dirty="0" err="1">
                <a:solidFill>
                  <a:srgbClr val="32D74B"/>
                </a:solidFill>
              </a:rPr>
              <a:t>getch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if(</a:t>
            </a:r>
            <a:r>
              <a:rPr lang="en-US" sz="700" dirty="0" err="1">
                <a:solidFill>
                  <a:srgbClr val="32D74B"/>
                </a:solidFill>
              </a:rPr>
              <a:t>ch</a:t>
            </a:r>
            <a:r>
              <a:rPr lang="en-US" sz="700" dirty="0">
                <a:solidFill>
                  <a:srgbClr val="32D74B"/>
                </a:solidFill>
              </a:rPr>
              <a:t> == 'w' &amp;&amp; 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!= 'D') 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= 'U';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if(</a:t>
            </a:r>
            <a:r>
              <a:rPr lang="en-US" sz="700" dirty="0" err="1">
                <a:solidFill>
                  <a:srgbClr val="32D74B"/>
                </a:solidFill>
              </a:rPr>
              <a:t>ch</a:t>
            </a:r>
            <a:r>
              <a:rPr lang="en-US" sz="700" dirty="0">
                <a:solidFill>
                  <a:srgbClr val="32D74B"/>
                </a:solidFill>
              </a:rPr>
              <a:t> == 's' &amp;&amp; 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!= 'U') 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= 'D';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if(</a:t>
            </a:r>
            <a:r>
              <a:rPr lang="en-US" sz="700" dirty="0" err="1">
                <a:solidFill>
                  <a:srgbClr val="32D74B"/>
                </a:solidFill>
              </a:rPr>
              <a:t>ch</a:t>
            </a:r>
            <a:r>
              <a:rPr lang="en-US" sz="700" dirty="0">
                <a:solidFill>
                  <a:srgbClr val="32D74B"/>
                </a:solidFill>
              </a:rPr>
              <a:t> == 'a' &amp;&amp; 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!= 'R') 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= 'L';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if(</a:t>
            </a:r>
            <a:r>
              <a:rPr lang="en-US" sz="700" dirty="0" err="1">
                <a:solidFill>
                  <a:srgbClr val="32D74B"/>
                </a:solidFill>
              </a:rPr>
              <a:t>ch</a:t>
            </a:r>
            <a:r>
              <a:rPr lang="en-US" sz="700" dirty="0">
                <a:solidFill>
                  <a:srgbClr val="32D74B"/>
                </a:solidFill>
              </a:rPr>
              <a:t> == 'd' &amp;&amp; 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!= 'L') 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= 'R';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}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if(</a:t>
            </a:r>
            <a:r>
              <a:rPr lang="en-US" sz="700" dirty="0" err="1">
                <a:solidFill>
                  <a:srgbClr val="32D74B"/>
                </a:solidFill>
              </a:rPr>
              <a:t>checkCollision</a:t>
            </a:r>
            <a:r>
              <a:rPr lang="en-US" sz="700" dirty="0">
                <a:solidFill>
                  <a:srgbClr val="32D74B"/>
                </a:solidFill>
              </a:rPr>
              <a:t>())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</a:t>
            </a:r>
            <a:r>
              <a:rPr lang="en-US" sz="700" dirty="0" err="1">
                <a:solidFill>
                  <a:srgbClr val="32D74B"/>
                </a:solidFill>
              </a:rPr>
              <a:t>cleardevice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</a:t>
            </a:r>
            <a:r>
              <a:rPr lang="en-US" sz="700" dirty="0" err="1">
                <a:solidFill>
                  <a:srgbClr val="32D74B"/>
                </a:solidFill>
              </a:rPr>
              <a:t>setcolor</a:t>
            </a:r>
            <a:r>
              <a:rPr lang="en-US" sz="700" dirty="0">
                <a:solidFill>
                  <a:srgbClr val="32D74B"/>
                </a:solidFill>
              </a:rPr>
              <a:t>(WHITE);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</a:t>
            </a:r>
            <a:r>
              <a:rPr lang="en-US" sz="700" dirty="0" err="1">
                <a:solidFill>
                  <a:srgbClr val="32D74B"/>
                </a:solidFill>
              </a:rPr>
              <a:t>sprintf</a:t>
            </a:r>
            <a:r>
              <a:rPr lang="en-US" sz="700" dirty="0">
                <a:solidFill>
                  <a:srgbClr val="32D74B"/>
                </a:solidFill>
              </a:rPr>
              <a:t>(</a:t>
            </a:r>
            <a:r>
              <a:rPr lang="en-US" sz="700" dirty="0" err="1">
                <a:solidFill>
                  <a:srgbClr val="32D74B"/>
                </a:solidFill>
              </a:rPr>
              <a:t>scoreText</a:t>
            </a:r>
            <a:r>
              <a:rPr lang="en-US" sz="700" dirty="0">
                <a:solidFill>
                  <a:srgbClr val="32D74B"/>
                </a:solidFill>
              </a:rPr>
              <a:t>, "Final Score: %d", score);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</a:t>
            </a:r>
            <a:r>
              <a:rPr lang="en-US" sz="700" dirty="0" err="1">
                <a:solidFill>
                  <a:srgbClr val="32D74B"/>
                </a:solidFill>
              </a:rPr>
              <a:t>outtextxy</a:t>
            </a:r>
            <a:r>
              <a:rPr lang="en-US" sz="700" dirty="0">
                <a:solidFill>
                  <a:srgbClr val="32D74B"/>
                </a:solidFill>
              </a:rPr>
              <a:t>(250, 200, "GAME OVER");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</a:t>
            </a:r>
            <a:r>
              <a:rPr lang="en-US" sz="700" dirty="0" err="1">
                <a:solidFill>
                  <a:srgbClr val="32D74B"/>
                </a:solidFill>
              </a:rPr>
              <a:t>outtextxy</a:t>
            </a:r>
            <a:r>
              <a:rPr lang="en-US" sz="700" dirty="0">
                <a:solidFill>
                  <a:srgbClr val="32D74B"/>
                </a:solidFill>
              </a:rPr>
              <a:t>(220, 230, </a:t>
            </a:r>
            <a:r>
              <a:rPr lang="en-US" sz="700" dirty="0" err="1">
                <a:solidFill>
                  <a:srgbClr val="32D74B"/>
                </a:solidFill>
              </a:rPr>
              <a:t>scoreText</a:t>
            </a:r>
            <a:r>
              <a:rPr lang="en-US" sz="700" dirty="0">
                <a:solidFill>
                  <a:srgbClr val="32D74B"/>
                </a:solidFill>
              </a:rPr>
              <a:t>);</a:t>
            </a:r>
          </a:p>
          <a:p>
            <a:endParaRPr lang="en-US" sz="700" dirty="0">
              <a:solidFill>
                <a:srgbClr val="32D74B"/>
              </a:solidFill>
            </a:endParaRPr>
          </a:p>
          <a:p>
            <a:r>
              <a:rPr lang="en-US" sz="700" dirty="0">
                <a:solidFill>
                  <a:srgbClr val="32D74B"/>
                </a:solidFill>
              </a:rPr>
              <a:t>            </a:t>
            </a:r>
            <a:r>
              <a:rPr lang="en-US" sz="700" dirty="0" err="1">
                <a:solidFill>
                  <a:srgbClr val="32D74B"/>
                </a:solidFill>
              </a:rPr>
              <a:t>getch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break;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}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delay(100); </a:t>
            </a:r>
          </a:p>
          <a:p>
            <a:r>
              <a:rPr lang="ar-EG" sz="700" dirty="0">
                <a:solidFill>
                  <a:srgbClr val="32D74B"/>
                </a:solidFill>
              </a:rPr>
              <a:t>}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</a:t>
            </a:r>
            <a:r>
              <a:rPr lang="en-US" sz="700" dirty="0" err="1">
                <a:solidFill>
                  <a:srgbClr val="32D74B"/>
                </a:solidFill>
              </a:rPr>
              <a:t>getch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</a:t>
            </a:r>
            <a:r>
              <a:rPr lang="en-US" sz="700" dirty="0" err="1">
                <a:solidFill>
                  <a:srgbClr val="32D74B"/>
                </a:solidFill>
              </a:rPr>
              <a:t>closegraph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}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4E0FDFC4-552C-ADB2-7AAA-07706A044B28}"/>
              </a:ext>
            </a:extLst>
          </p:cNvPr>
          <p:cNvSpPr/>
          <p:nvPr/>
        </p:nvSpPr>
        <p:spPr>
          <a:xfrm>
            <a:off x="2138662" y="923544"/>
            <a:ext cx="2258913" cy="4209288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r>
              <a:rPr lang="en-US" sz="700" dirty="0">
                <a:solidFill>
                  <a:srgbClr val="2FCA47"/>
                </a:solidFill>
              </a:rPr>
              <a:t>     </a:t>
            </a:r>
            <a:r>
              <a:rPr lang="en-US" sz="700" dirty="0" err="1">
                <a:solidFill>
                  <a:srgbClr val="2FCA47"/>
                </a:solidFill>
              </a:rPr>
              <a:t>setcolor</a:t>
            </a:r>
            <a:r>
              <a:rPr lang="en-US" sz="700" dirty="0">
                <a:solidFill>
                  <a:srgbClr val="2FCA47"/>
                </a:solidFill>
              </a:rPr>
              <a:t>(WHITE);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if(</a:t>
            </a:r>
            <a:r>
              <a:rPr lang="en-US" sz="700" dirty="0" err="1">
                <a:solidFill>
                  <a:srgbClr val="2FCA47"/>
                </a:solidFill>
              </a:rPr>
              <a:t>dir</a:t>
            </a:r>
            <a:r>
              <a:rPr lang="en-US" sz="700" dirty="0">
                <a:solidFill>
                  <a:srgbClr val="2FCA47"/>
                </a:solidFill>
              </a:rPr>
              <a:t> == 'R')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circle(x[0]+6, y[0]+2, 1);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circle(x[0]+6, y[0]+6, 1);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 else if(</a:t>
            </a:r>
            <a:r>
              <a:rPr lang="en-US" sz="700" dirty="0" err="1">
                <a:solidFill>
                  <a:srgbClr val="2FCA47"/>
                </a:solidFill>
              </a:rPr>
              <a:t>dir</a:t>
            </a:r>
            <a:r>
              <a:rPr lang="en-US" sz="700" dirty="0">
                <a:solidFill>
                  <a:srgbClr val="2FCA47"/>
                </a:solidFill>
              </a:rPr>
              <a:t> == 'L')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circle(x[0]+2, y[0]+2, 1);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circle(x[0]+2, y[0]+6, 1);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 else if(</a:t>
            </a:r>
            <a:r>
              <a:rPr lang="en-US" sz="700" dirty="0" err="1">
                <a:solidFill>
                  <a:srgbClr val="2FCA47"/>
                </a:solidFill>
              </a:rPr>
              <a:t>dir</a:t>
            </a:r>
            <a:r>
              <a:rPr lang="en-US" sz="700" dirty="0">
                <a:solidFill>
                  <a:srgbClr val="2FCA47"/>
                </a:solidFill>
              </a:rPr>
              <a:t> == 'U')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circle(x[0]+2, y[0]+2, 1);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circle(x[0]+6, y[0]+2, 1);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 else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circle(x[0]+2, y[0]+6, 1);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circle(x[0]+6, y[0]+6, 1);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</a:t>
            </a:r>
          </a:p>
          <a:p>
            <a:r>
              <a:rPr lang="en-US" sz="700" dirty="0">
                <a:solidFill>
                  <a:srgbClr val="2FCA47"/>
                </a:solidFill>
              </a:rPr>
              <a:t>int t = length - 1;  </a:t>
            </a:r>
          </a:p>
          <a:p>
            <a:r>
              <a:rPr lang="en-US" sz="700" dirty="0">
                <a:solidFill>
                  <a:srgbClr val="2FCA47"/>
                </a:solidFill>
              </a:rPr>
              <a:t>if(x[t] &lt; x[t-1])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int p[] = {x[t]+8,y[t], x[t]+8,y[t]+8, x[t],y[t]+4};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</a:t>
            </a:r>
            <a:r>
              <a:rPr lang="en-US" sz="700" dirty="0" err="1">
                <a:solidFill>
                  <a:srgbClr val="2FCA47"/>
                </a:solidFill>
              </a:rPr>
              <a:t>fillpoly</a:t>
            </a:r>
            <a:r>
              <a:rPr lang="en-US" sz="700" dirty="0">
                <a:solidFill>
                  <a:srgbClr val="2FCA47"/>
                </a:solidFill>
              </a:rPr>
              <a:t>(3, p);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else if(x[t] &gt; x[t-1])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int p[] = {x[t],y[t], x[t],y[t]+8, x[t]+8,y[t]+4};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</a:t>
            </a:r>
            <a:r>
              <a:rPr lang="en-US" sz="700" dirty="0" err="1">
                <a:solidFill>
                  <a:srgbClr val="2FCA47"/>
                </a:solidFill>
              </a:rPr>
              <a:t>fillpoly</a:t>
            </a:r>
            <a:r>
              <a:rPr lang="en-US" sz="700" dirty="0">
                <a:solidFill>
                  <a:srgbClr val="2FCA47"/>
                </a:solidFill>
              </a:rPr>
              <a:t>(3, p);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else if(y[t] &lt; y[t-1])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int p[] = {x[t],y[t]+8, x[t]+8,y[t]+8, x[t]+4,y[t]};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</a:t>
            </a:r>
            <a:r>
              <a:rPr lang="en-US" sz="700" dirty="0" err="1">
                <a:solidFill>
                  <a:srgbClr val="2FCA47"/>
                </a:solidFill>
              </a:rPr>
              <a:t>fillpoly</a:t>
            </a:r>
            <a:r>
              <a:rPr lang="en-US" sz="700" dirty="0">
                <a:solidFill>
                  <a:srgbClr val="2FCA47"/>
                </a:solidFill>
              </a:rPr>
              <a:t>(3, p);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else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int p[] = {x[t],y[t], x[t]+8,y[t], x[t]+4,y[t]+8};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</a:t>
            </a:r>
            <a:r>
              <a:rPr lang="en-US" sz="700" dirty="0" err="1">
                <a:solidFill>
                  <a:srgbClr val="2FCA47"/>
                </a:solidFill>
              </a:rPr>
              <a:t>fillpoly</a:t>
            </a:r>
            <a:r>
              <a:rPr lang="en-US" sz="700" dirty="0">
                <a:solidFill>
                  <a:srgbClr val="2FCA47"/>
                </a:solidFill>
              </a:rPr>
              <a:t>(3, p);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</a:t>
            </a:r>
          </a:p>
          <a:p>
            <a:r>
              <a:rPr lang="en-US" sz="700" dirty="0">
                <a:solidFill>
                  <a:srgbClr val="2FCA47"/>
                </a:solidFill>
              </a:rPr>
              <a:t>}</a:t>
            </a:r>
          </a:p>
          <a:p>
            <a:r>
              <a:rPr lang="en-US" sz="700" dirty="0">
                <a:solidFill>
                  <a:srgbClr val="2FCA47"/>
                </a:solidFill>
              </a:rPr>
              <a:t>void </a:t>
            </a:r>
            <a:r>
              <a:rPr lang="en-US" sz="700" dirty="0" err="1">
                <a:solidFill>
                  <a:srgbClr val="2FCA47"/>
                </a:solidFill>
              </a:rPr>
              <a:t>moveSnake</a:t>
            </a:r>
            <a:r>
              <a:rPr lang="en-US" sz="700" dirty="0">
                <a:solidFill>
                  <a:srgbClr val="2FCA47"/>
                </a:solidFill>
              </a:rPr>
              <a:t>()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int </a:t>
            </a:r>
            <a:r>
              <a:rPr lang="en-US" sz="700" dirty="0" err="1">
                <a:solidFill>
                  <a:srgbClr val="2FCA47"/>
                </a:solidFill>
              </a:rPr>
              <a:t>i</a:t>
            </a:r>
            <a:r>
              <a:rPr lang="en-US" sz="700" dirty="0">
                <a:solidFill>
                  <a:srgbClr val="2FCA47"/>
                </a:solidFill>
              </a:rPr>
              <a:t>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for(</a:t>
            </a:r>
            <a:r>
              <a:rPr lang="en-US" sz="700" dirty="0" err="1">
                <a:solidFill>
                  <a:srgbClr val="2FCA47"/>
                </a:solidFill>
              </a:rPr>
              <a:t>i</a:t>
            </a:r>
            <a:r>
              <a:rPr lang="en-US" sz="700" dirty="0">
                <a:solidFill>
                  <a:srgbClr val="2FCA47"/>
                </a:solidFill>
              </a:rPr>
              <a:t> = length-1; </a:t>
            </a:r>
            <a:r>
              <a:rPr lang="en-US" sz="700" dirty="0" err="1">
                <a:solidFill>
                  <a:srgbClr val="2FCA47"/>
                </a:solidFill>
              </a:rPr>
              <a:t>i</a:t>
            </a:r>
            <a:r>
              <a:rPr lang="en-US" sz="700" dirty="0">
                <a:solidFill>
                  <a:srgbClr val="2FCA47"/>
                </a:solidFill>
              </a:rPr>
              <a:t> &gt; 0; </a:t>
            </a:r>
            <a:r>
              <a:rPr lang="en-US" sz="700" dirty="0" err="1">
                <a:solidFill>
                  <a:srgbClr val="2FCA47"/>
                </a:solidFill>
              </a:rPr>
              <a:t>i</a:t>
            </a:r>
            <a:r>
              <a:rPr lang="en-US" sz="700" dirty="0">
                <a:solidFill>
                  <a:srgbClr val="2FCA47"/>
                </a:solidFill>
              </a:rPr>
              <a:t>--) {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x[</a:t>
            </a:r>
            <a:r>
              <a:rPr lang="en-US" sz="700" dirty="0" err="1">
                <a:solidFill>
                  <a:srgbClr val="2FCA47"/>
                </a:solidFill>
              </a:rPr>
              <a:t>i</a:t>
            </a:r>
            <a:r>
              <a:rPr lang="en-US" sz="700" dirty="0">
                <a:solidFill>
                  <a:srgbClr val="2FCA47"/>
                </a:solidFill>
              </a:rPr>
              <a:t>] = x[i-1];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    y[</a:t>
            </a:r>
            <a:r>
              <a:rPr lang="en-US" sz="700" dirty="0" err="1">
                <a:solidFill>
                  <a:srgbClr val="2FCA47"/>
                </a:solidFill>
              </a:rPr>
              <a:t>i</a:t>
            </a:r>
            <a:r>
              <a:rPr lang="en-US" sz="700" dirty="0">
                <a:solidFill>
                  <a:srgbClr val="2FCA47"/>
                </a:solidFill>
              </a:rPr>
              <a:t>] = y[i-1];</a:t>
            </a:r>
          </a:p>
          <a:p>
            <a:r>
              <a:rPr lang="en-US" sz="700" dirty="0">
                <a:solidFill>
                  <a:srgbClr val="2FCA47"/>
                </a:solidFill>
              </a:rPr>
              <a:t>    }</a:t>
            </a:r>
          </a:p>
          <a:p>
            <a:endParaRPr lang="en-US" sz="700" dirty="0">
              <a:solidFill>
                <a:srgbClr val="2FCA47"/>
              </a:solidFill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F840F5E-5C2E-CD3A-6160-036C3ACF6FFB}"/>
              </a:ext>
            </a:extLst>
          </p:cNvPr>
          <p:cNvSpPr/>
          <p:nvPr/>
        </p:nvSpPr>
        <p:spPr>
          <a:xfrm>
            <a:off x="4397575" y="934212"/>
            <a:ext cx="2258913" cy="4209288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r>
              <a:rPr lang="en-US" sz="700" dirty="0">
                <a:solidFill>
                  <a:srgbClr val="32D74B"/>
                </a:solidFill>
              </a:rPr>
              <a:t>if(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== 'R') x[0] += 8;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if(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== 'L') x[0] -= 8;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if(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== 'U') y[0] -= 8;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if(</a:t>
            </a:r>
            <a:r>
              <a:rPr lang="en-US" sz="700" dirty="0" err="1">
                <a:solidFill>
                  <a:srgbClr val="32D74B"/>
                </a:solidFill>
              </a:rPr>
              <a:t>dir</a:t>
            </a:r>
            <a:r>
              <a:rPr lang="en-US" sz="700" dirty="0">
                <a:solidFill>
                  <a:srgbClr val="32D74B"/>
                </a:solidFill>
              </a:rPr>
              <a:t> == 'D') y[0] += 8;</a:t>
            </a:r>
          </a:p>
          <a:p>
            <a:r>
              <a:rPr lang="en-US" sz="700" dirty="0">
                <a:solidFill>
                  <a:srgbClr val="32D74B"/>
                </a:solidFill>
              </a:rPr>
              <a:t>}</a:t>
            </a:r>
          </a:p>
          <a:p>
            <a:r>
              <a:rPr lang="en-US" sz="700" dirty="0">
                <a:solidFill>
                  <a:srgbClr val="32D74B"/>
                </a:solidFill>
              </a:rPr>
              <a:t>void </a:t>
            </a:r>
            <a:r>
              <a:rPr lang="en-US" sz="700" dirty="0" err="1">
                <a:solidFill>
                  <a:srgbClr val="32D74B"/>
                </a:solidFill>
              </a:rPr>
              <a:t>generateFood</a:t>
            </a:r>
            <a:r>
              <a:rPr lang="en-US" sz="700" dirty="0">
                <a:solidFill>
                  <a:srgbClr val="32D74B"/>
                </a:solidFill>
              </a:rPr>
              <a:t>()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</a:t>
            </a:r>
            <a:r>
              <a:rPr lang="en-US" sz="700" dirty="0" err="1">
                <a:solidFill>
                  <a:srgbClr val="32D74B"/>
                </a:solidFill>
              </a:rPr>
              <a:t>foodx</a:t>
            </a:r>
            <a:r>
              <a:rPr lang="en-US" sz="700" dirty="0">
                <a:solidFill>
                  <a:srgbClr val="32D74B"/>
                </a:solidFill>
              </a:rPr>
              <a:t> = (rand() % 60) * 8 + 20;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foody = (rand() % 40) * 8 + 20;</a:t>
            </a:r>
          </a:p>
          <a:p>
            <a:r>
              <a:rPr lang="en-US" sz="700" dirty="0">
                <a:solidFill>
                  <a:srgbClr val="32D74B"/>
                </a:solidFill>
              </a:rPr>
              <a:t>}</a:t>
            </a:r>
          </a:p>
          <a:p>
            <a:r>
              <a:rPr lang="en-US" sz="700" dirty="0">
                <a:solidFill>
                  <a:srgbClr val="32D74B"/>
                </a:solidFill>
              </a:rPr>
              <a:t>int </a:t>
            </a:r>
            <a:r>
              <a:rPr lang="en-US" sz="700" dirty="0" err="1">
                <a:solidFill>
                  <a:srgbClr val="32D74B"/>
                </a:solidFill>
              </a:rPr>
              <a:t>checkCollision</a:t>
            </a:r>
            <a:r>
              <a:rPr lang="en-US" sz="700" dirty="0">
                <a:solidFill>
                  <a:srgbClr val="32D74B"/>
                </a:solidFill>
              </a:rPr>
              <a:t>()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int 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if(x[0] &lt; 0 || x[0] &gt; 632 || y[0] &lt; 0 || y[0] &gt; 472)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return 1; </a:t>
            </a:r>
          </a:p>
          <a:p>
            <a:r>
              <a:rPr lang="en-US" sz="700" dirty="0">
                <a:solidFill>
                  <a:srgbClr val="32D74B"/>
                </a:solidFill>
              </a:rPr>
              <a:t>for(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 = 1; 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 &lt; length; 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++)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if(x[0] == x[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] &amp;&amp; y[0] == y[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])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    return 1;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}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return 0;</a:t>
            </a:r>
          </a:p>
          <a:p>
            <a:r>
              <a:rPr lang="en-US" sz="700" dirty="0">
                <a:solidFill>
                  <a:srgbClr val="32D74B"/>
                </a:solidFill>
              </a:rPr>
              <a:t>}</a:t>
            </a:r>
          </a:p>
          <a:p>
            <a:r>
              <a:rPr lang="en-US" sz="700" dirty="0">
                <a:solidFill>
                  <a:srgbClr val="32D74B"/>
                </a:solidFill>
              </a:rPr>
              <a:t>void main()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int </a:t>
            </a:r>
            <a:r>
              <a:rPr lang="en-US" sz="700" dirty="0" err="1">
                <a:solidFill>
                  <a:srgbClr val="32D74B"/>
                </a:solidFill>
              </a:rPr>
              <a:t>gd</a:t>
            </a:r>
            <a:r>
              <a:rPr lang="en-US" sz="700" dirty="0">
                <a:solidFill>
                  <a:srgbClr val="32D74B"/>
                </a:solidFill>
              </a:rPr>
              <a:t> = DETECT, gm;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int 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char </a:t>
            </a:r>
            <a:r>
              <a:rPr lang="en-US" sz="700" dirty="0" err="1">
                <a:solidFill>
                  <a:srgbClr val="32D74B"/>
                </a:solidFill>
              </a:rPr>
              <a:t>scoreText</a:t>
            </a:r>
            <a:r>
              <a:rPr lang="en-US" sz="700" dirty="0">
                <a:solidFill>
                  <a:srgbClr val="32D74B"/>
                </a:solidFill>
              </a:rPr>
              <a:t>[30];</a:t>
            </a:r>
          </a:p>
          <a:p>
            <a:endParaRPr lang="en-US" sz="700" dirty="0">
              <a:solidFill>
                <a:srgbClr val="32D74B"/>
              </a:solidFill>
            </a:endParaRPr>
          </a:p>
          <a:p>
            <a:r>
              <a:rPr lang="en-US" sz="700" dirty="0">
                <a:solidFill>
                  <a:srgbClr val="32D74B"/>
                </a:solidFill>
              </a:rPr>
              <a:t>    </a:t>
            </a:r>
            <a:r>
              <a:rPr lang="en-US" sz="700" dirty="0" err="1">
                <a:solidFill>
                  <a:srgbClr val="32D74B"/>
                </a:solidFill>
              </a:rPr>
              <a:t>initgraph</a:t>
            </a:r>
            <a:r>
              <a:rPr lang="en-US" sz="700" dirty="0">
                <a:solidFill>
                  <a:srgbClr val="32D74B"/>
                </a:solidFill>
              </a:rPr>
              <a:t>(&amp;</a:t>
            </a:r>
            <a:r>
              <a:rPr lang="en-US" sz="700" dirty="0" err="1">
                <a:solidFill>
                  <a:srgbClr val="32D74B"/>
                </a:solidFill>
              </a:rPr>
              <a:t>gd</a:t>
            </a:r>
            <a:r>
              <a:rPr lang="en-US" sz="700" dirty="0">
                <a:solidFill>
                  <a:srgbClr val="32D74B"/>
                </a:solidFill>
              </a:rPr>
              <a:t>, &amp;gm, "C:\\TC\\BGI");</a:t>
            </a:r>
          </a:p>
          <a:p>
            <a:endParaRPr lang="en-US" sz="700" dirty="0">
              <a:solidFill>
                <a:srgbClr val="32D74B"/>
              </a:solidFill>
            </a:endParaRPr>
          </a:p>
          <a:p>
            <a:r>
              <a:rPr lang="en-US" sz="700" dirty="0">
                <a:solidFill>
                  <a:srgbClr val="32D74B"/>
                </a:solidFill>
              </a:rPr>
              <a:t>    for(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 = 0; 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 &lt; length; 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++)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x[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] = 200 - 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*8;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y[</a:t>
            </a:r>
            <a:r>
              <a:rPr lang="en-US" sz="700" dirty="0" err="1">
                <a:solidFill>
                  <a:srgbClr val="32D74B"/>
                </a:solidFill>
              </a:rPr>
              <a:t>i</a:t>
            </a:r>
            <a:r>
              <a:rPr lang="en-US" sz="700" dirty="0">
                <a:solidFill>
                  <a:srgbClr val="32D74B"/>
                </a:solidFill>
              </a:rPr>
              <a:t>] = 200;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}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</a:t>
            </a:r>
            <a:r>
              <a:rPr lang="en-US" sz="700" dirty="0" err="1">
                <a:solidFill>
                  <a:srgbClr val="32D74B"/>
                </a:solidFill>
              </a:rPr>
              <a:t>generateFood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while(1) {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</a:t>
            </a:r>
            <a:r>
              <a:rPr lang="en-US" sz="700" dirty="0" err="1">
                <a:solidFill>
                  <a:srgbClr val="32D74B"/>
                </a:solidFill>
              </a:rPr>
              <a:t>cleardevice</a:t>
            </a:r>
            <a:r>
              <a:rPr lang="en-US" sz="700" dirty="0">
                <a:solidFill>
                  <a:srgbClr val="32D74B"/>
                </a:solidFill>
              </a:rPr>
              <a:t>(); </a:t>
            </a:r>
            <a:endParaRPr lang="ar-EG" sz="700" dirty="0">
              <a:solidFill>
                <a:srgbClr val="32D74B"/>
              </a:solidFill>
            </a:endParaRPr>
          </a:p>
          <a:p>
            <a:r>
              <a:rPr lang="ar-EG" sz="700" dirty="0">
                <a:solidFill>
                  <a:srgbClr val="32D74B"/>
                </a:solidFill>
              </a:rPr>
              <a:t>        </a:t>
            </a:r>
            <a:r>
              <a:rPr lang="en-US" sz="700" dirty="0" err="1">
                <a:solidFill>
                  <a:srgbClr val="32D74B"/>
                </a:solidFill>
              </a:rPr>
              <a:t>drawGrid</a:t>
            </a:r>
            <a:r>
              <a:rPr lang="en-US" sz="700" dirty="0">
                <a:solidFill>
                  <a:srgbClr val="32D74B"/>
                </a:solidFill>
              </a:rPr>
              <a:t>();</a:t>
            </a:r>
          </a:p>
          <a:p>
            <a:endParaRPr lang="en-US" sz="700" dirty="0">
              <a:solidFill>
                <a:srgbClr val="32D74B"/>
              </a:solidFill>
            </a:endParaRPr>
          </a:p>
          <a:p>
            <a:r>
              <a:rPr lang="en-US" sz="700" dirty="0">
                <a:solidFill>
                  <a:srgbClr val="32D74B"/>
                </a:solidFill>
              </a:rPr>
              <a:t>         </a:t>
            </a:r>
            <a:r>
              <a:rPr lang="en-US" sz="700" dirty="0" err="1">
                <a:solidFill>
                  <a:srgbClr val="32D74B"/>
                </a:solidFill>
              </a:rPr>
              <a:t>setcolor</a:t>
            </a:r>
            <a:r>
              <a:rPr lang="en-US" sz="700" dirty="0">
                <a:solidFill>
                  <a:srgbClr val="32D74B"/>
                </a:solidFill>
              </a:rPr>
              <a:t>(WHITE);</a:t>
            </a:r>
          </a:p>
          <a:p>
            <a:r>
              <a:rPr lang="en-US" sz="700" dirty="0">
                <a:solidFill>
                  <a:srgbClr val="32D74B"/>
                </a:solidFill>
              </a:rPr>
              <a:t>        </a:t>
            </a:r>
            <a:r>
              <a:rPr lang="en-US" sz="700" dirty="0" err="1">
                <a:solidFill>
                  <a:srgbClr val="32D74B"/>
                </a:solidFill>
              </a:rPr>
              <a:t>outtextxy</a:t>
            </a:r>
            <a:r>
              <a:rPr lang="en-US" sz="700" dirty="0">
                <a:solidFill>
                  <a:srgbClr val="32D74B"/>
                </a:solidFill>
              </a:rPr>
              <a:t>(10, 10, "Snake Game");</a:t>
            </a:r>
          </a:p>
          <a:p>
            <a:endParaRPr lang="en-US" sz="700" dirty="0">
              <a:solidFill>
                <a:srgbClr val="32D74B"/>
              </a:solidFill>
            </a:endParaRPr>
          </a:p>
          <a:p>
            <a:endParaRPr lang="en-US" sz="700" dirty="0">
              <a:solidFill>
                <a:srgbClr val="32D74B"/>
              </a:solidFill>
            </a:endParaRPr>
          </a:p>
          <a:p>
            <a:endParaRPr lang="en-US" sz="700" b="1" dirty="0">
              <a:solidFill>
                <a:srgbClr val="32D74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64008" cy="457200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CNC Plotter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14630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💡</a:t>
            </a: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94A3B8"/>
                </a:solidFill>
              </a:rPr>
              <a:t>A CNC Plotter is a mechatronic system that integrates hardware and software, converting digital commands from a computer into precise mechanical motion using stepper motors, enabling it to draw shapes and write text automatically with high accuracy.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2450592"/>
            <a:ext cx="4114800" cy="10058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2475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🔌 Connection Method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4A3B8"/>
                </a:solidFill>
              </a:rPr>
              <a:t>The system is connected using an Arduino Uno, where each stepper motor is controlled through a ULN2003 driver. The drivers are connected to the Arduino digital pins, and an external </a:t>
            </a:r>
            <a:r>
              <a:rPr lang="ar-EG" sz="900" dirty="0">
                <a:solidFill>
                  <a:srgbClr val="94A3B8"/>
                </a:solidFill>
              </a:rPr>
              <a:t>9</a:t>
            </a:r>
            <a:r>
              <a:rPr lang="en-US" sz="900" dirty="0">
                <a:solidFill>
                  <a:srgbClr val="94A3B8"/>
                </a:solidFill>
              </a:rPr>
              <a:t>V power supply is used to ensure stable operation.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" y="3520440"/>
            <a:ext cx="4114800" cy="12801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⚙️ Components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39044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Arduino Uno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3× Stepper Motor + ULN2003 Driver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Printed Frame (405g)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Adapter 9V/1A   •   USB Cable   •   Wires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1828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9144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114800" cy="1965960"/>
          </a:xfrm>
          <a:prstGeom prst="rect">
            <a:avLst/>
          </a:prstGeom>
          <a:solidFill>
            <a:srgbClr val="0F172A"/>
          </a:solidFill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4114800" cy="196596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64008" cy="457200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CNC Plotter Outputs &amp;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77640" cy="1828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3977640" cy="196596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39776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51960" cy="3886200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251960" cy="54864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00584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00F2FF"/>
                </a:solidFill>
              </a:rPr>
              <a:t>/***********************************************************************</a:t>
            </a:r>
          </a:p>
          <a:p>
            <a:r>
              <a:rPr lang="en-US" sz="800" dirty="0">
                <a:solidFill>
                  <a:srgbClr val="00F2FF"/>
                </a:solidFill>
              </a:rPr>
              <a:t>This sketch compiles and uploads </a:t>
            </a:r>
            <a:r>
              <a:rPr lang="en-US" sz="800" dirty="0" err="1">
                <a:solidFill>
                  <a:srgbClr val="00F2FF"/>
                </a:solidFill>
              </a:rPr>
              <a:t>Grbl</a:t>
            </a:r>
            <a:r>
              <a:rPr lang="en-US" sz="800" dirty="0">
                <a:solidFill>
                  <a:srgbClr val="00F2FF"/>
                </a:solidFill>
              </a:rPr>
              <a:t> to your 328p-based Arduino! </a:t>
            </a:r>
          </a:p>
          <a:p>
            <a:r>
              <a:rPr lang="en-US" sz="800" dirty="0">
                <a:solidFill>
                  <a:srgbClr val="00F2FF"/>
                </a:solidFill>
              </a:rPr>
              <a:t>To use:</a:t>
            </a:r>
          </a:p>
          <a:p>
            <a:r>
              <a:rPr lang="en-US" sz="800" dirty="0">
                <a:solidFill>
                  <a:srgbClr val="00F2FF"/>
                </a:solidFill>
              </a:rPr>
              <a:t>- First make sure you have imported </a:t>
            </a:r>
            <a:r>
              <a:rPr lang="en-US" sz="800" dirty="0" err="1">
                <a:solidFill>
                  <a:srgbClr val="00F2FF"/>
                </a:solidFill>
              </a:rPr>
              <a:t>Grbl</a:t>
            </a:r>
            <a:r>
              <a:rPr lang="en-US" sz="800" dirty="0">
                <a:solidFill>
                  <a:srgbClr val="00F2FF"/>
                </a:solidFill>
              </a:rPr>
              <a:t> source code into your Arduino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IDE. There are details on our </a:t>
            </a:r>
            <a:r>
              <a:rPr lang="en-US" sz="800" dirty="0" err="1">
                <a:solidFill>
                  <a:srgbClr val="00F2FF"/>
                </a:solidFill>
              </a:rPr>
              <a:t>Github</a:t>
            </a:r>
            <a:r>
              <a:rPr lang="en-US" sz="800" dirty="0">
                <a:solidFill>
                  <a:srgbClr val="00F2FF"/>
                </a:solidFill>
              </a:rPr>
              <a:t> website on how to do this.</a:t>
            </a:r>
          </a:p>
          <a:p>
            <a:endParaRPr lang="en-US" sz="800" dirty="0">
              <a:solidFill>
                <a:srgbClr val="00F2FF"/>
              </a:solidFill>
            </a:endParaRPr>
          </a:p>
          <a:p>
            <a:r>
              <a:rPr lang="en-US" sz="800" dirty="0">
                <a:solidFill>
                  <a:srgbClr val="00F2FF"/>
                </a:solidFill>
              </a:rPr>
              <a:t>- Select your Arduino Board and Serial Port in the Tools drop-down menu.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NOTE: </a:t>
            </a:r>
            <a:r>
              <a:rPr lang="en-US" sz="800" dirty="0" err="1">
                <a:solidFill>
                  <a:srgbClr val="00F2FF"/>
                </a:solidFill>
              </a:rPr>
              <a:t>Grbl</a:t>
            </a:r>
            <a:r>
              <a:rPr lang="en-US" sz="800" dirty="0">
                <a:solidFill>
                  <a:srgbClr val="00F2FF"/>
                </a:solidFill>
              </a:rPr>
              <a:t> only officially supports 328p-based Arduinos, like the Uno.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Using other boards will likely not work!</a:t>
            </a:r>
          </a:p>
          <a:p>
            <a:endParaRPr lang="en-US" sz="800" dirty="0">
              <a:solidFill>
                <a:srgbClr val="00F2FF"/>
              </a:solidFill>
            </a:endParaRPr>
          </a:p>
          <a:p>
            <a:r>
              <a:rPr lang="en-US" sz="800" dirty="0">
                <a:solidFill>
                  <a:srgbClr val="00F2FF"/>
                </a:solidFill>
              </a:rPr>
              <a:t>- Then just click 'Upload'. That's it!</a:t>
            </a:r>
          </a:p>
          <a:p>
            <a:r>
              <a:rPr lang="en-US" sz="800" dirty="0">
                <a:solidFill>
                  <a:srgbClr val="00F2FF"/>
                </a:solidFill>
              </a:rPr>
              <a:t>For advanced users: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If you'd like to see what else </a:t>
            </a:r>
            <a:r>
              <a:rPr lang="en-US" sz="800" dirty="0" err="1">
                <a:solidFill>
                  <a:srgbClr val="00F2FF"/>
                </a:solidFill>
              </a:rPr>
              <a:t>Grbl</a:t>
            </a:r>
            <a:r>
              <a:rPr lang="en-US" sz="800" dirty="0">
                <a:solidFill>
                  <a:srgbClr val="00F2FF"/>
                </a:solidFill>
              </a:rPr>
              <a:t> can do, there are some additional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options for customization and features you can enable or disable. 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Navigate your file system to where the Arduino IDE has stored the </a:t>
            </a:r>
            <a:r>
              <a:rPr lang="en-US" sz="800" dirty="0" err="1">
                <a:solidFill>
                  <a:srgbClr val="00F2FF"/>
                </a:solidFill>
              </a:rPr>
              <a:t>Grbl</a:t>
            </a:r>
            <a:r>
              <a:rPr lang="en-US" sz="800" dirty="0">
                <a:solidFill>
                  <a:srgbClr val="00F2FF"/>
                </a:solidFill>
              </a:rPr>
              <a:t> 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source code files, open the '</a:t>
            </a:r>
            <a:r>
              <a:rPr lang="en-US" sz="800" dirty="0" err="1">
                <a:solidFill>
                  <a:srgbClr val="00F2FF"/>
                </a:solidFill>
              </a:rPr>
              <a:t>config.h</a:t>
            </a:r>
            <a:r>
              <a:rPr lang="en-US" sz="800" dirty="0">
                <a:solidFill>
                  <a:srgbClr val="00F2FF"/>
                </a:solidFill>
              </a:rPr>
              <a:t>' file in your favorite text 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editor. Inside are dozens of feature descriptions and #defines. Simply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comment or uncomment the #defines or alter their assigned values, save</a:t>
            </a:r>
          </a:p>
          <a:p>
            <a:r>
              <a:rPr lang="en-US" sz="800" dirty="0">
                <a:solidFill>
                  <a:srgbClr val="00F2FF"/>
                </a:solidFill>
              </a:rPr>
              <a:t>  your changes, and then click 'Upload' here. </a:t>
            </a:r>
            <a:br>
              <a:rPr lang="en-US" sz="800" dirty="0">
                <a:solidFill>
                  <a:srgbClr val="00F2FF"/>
                </a:solidFill>
              </a:rPr>
            </a:br>
            <a:endParaRPr lang="en-US" sz="800" dirty="0">
              <a:solidFill>
                <a:srgbClr val="00F2FF"/>
              </a:solidFill>
            </a:endParaRPr>
          </a:p>
          <a:p>
            <a:r>
              <a:rPr lang="en-US" sz="800" dirty="0">
                <a:solidFill>
                  <a:srgbClr val="00F2FF"/>
                </a:solidFill>
              </a:rPr>
              <a:t>Copyright (c) 2015 </a:t>
            </a:r>
            <a:r>
              <a:rPr lang="en-US" sz="800" dirty="0" err="1">
                <a:solidFill>
                  <a:srgbClr val="00F2FF"/>
                </a:solidFill>
              </a:rPr>
              <a:t>Sungeun</a:t>
            </a:r>
            <a:r>
              <a:rPr lang="en-US" sz="800" dirty="0">
                <a:solidFill>
                  <a:srgbClr val="00F2FF"/>
                </a:solidFill>
              </a:rPr>
              <a:t> K. Jeon</a:t>
            </a:r>
          </a:p>
          <a:p>
            <a:r>
              <a:rPr lang="en-US" sz="800" dirty="0">
                <a:solidFill>
                  <a:srgbClr val="00F2FF"/>
                </a:solidFill>
              </a:rPr>
              <a:t>Released under the MIT-license. See license.txt for details.</a:t>
            </a:r>
          </a:p>
          <a:p>
            <a:r>
              <a:rPr lang="en-US" sz="800" dirty="0">
                <a:solidFill>
                  <a:srgbClr val="00F2FF"/>
                </a:solidFill>
              </a:rPr>
              <a:t>***********************************************************************/</a:t>
            </a:r>
          </a:p>
          <a:p>
            <a:br>
              <a:rPr lang="en-US" sz="800" dirty="0">
                <a:solidFill>
                  <a:srgbClr val="00F2FF"/>
                </a:solidFill>
              </a:rPr>
            </a:br>
            <a:endParaRPr lang="en-US" sz="800" dirty="0">
              <a:solidFill>
                <a:srgbClr val="00F2FF"/>
              </a:solidFill>
            </a:endParaRPr>
          </a:p>
          <a:p>
            <a:r>
              <a:rPr lang="en-US" sz="800" dirty="0">
                <a:solidFill>
                  <a:srgbClr val="00F2FF"/>
                </a:solidFill>
              </a:rPr>
              <a:t>#include &lt;</a:t>
            </a:r>
            <a:r>
              <a:rPr lang="en-US" sz="800" dirty="0" err="1">
                <a:solidFill>
                  <a:srgbClr val="00F2FF"/>
                </a:solidFill>
              </a:rPr>
              <a:t>grbl.h</a:t>
            </a:r>
            <a:r>
              <a:rPr lang="en-US" sz="800" dirty="0">
                <a:solidFill>
                  <a:srgbClr val="00F2FF"/>
                </a:solidFill>
              </a:rPr>
              <a:t>&gt;</a:t>
            </a:r>
          </a:p>
          <a:p>
            <a:br>
              <a:rPr lang="en-US" sz="800" dirty="0">
                <a:solidFill>
                  <a:srgbClr val="00F2FF"/>
                </a:solidFill>
              </a:rPr>
            </a:br>
            <a:endParaRPr lang="en-US" sz="800" dirty="0">
              <a:solidFill>
                <a:srgbClr val="00F2FF"/>
              </a:solidFill>
            </a:endParaRPr>
          </a:p>
          <a:p>
            <a:r>
              <a:rPr lang="en-US" sz="800" dirty="0">
                <a:solidFill>
                  <a:srgbClr val="00F2FF"/>
                </a:solidFill>
              </a:rPr>
              <a:t>// Do not alter this file!</a:t>
            </a:r>
          </a:p>
          <a:p>
            <a:br>
              <a:rPr lang="en-US" sz="800" dirty="0">
                <a:solidFill>
                  <a:srgbClr val="00F2FF"/>
                </a:solidFill>
              </a:rPr>
            </a:br>
            <a:endParaRPr lang="en-US" sz="800" dirty="0">
              <a:solidFill>
                <a:srgbClr val="00F2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0" y="941832"/>
            <a:ext cx="1005840" cy="256032"/>
          </a:xfrm>
          <a:prstGeom prst="rect">
            <a:avLst/>
          </a:prstGeom>
          <a:solidFill>
            <a:srgbClr val="0C2233"/>
          </a:solidFill>
          <a:ln w="9525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0" y="941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64008" cy="457200"/>
          </a:xfrm>
          <a:prstGeom prst="rect">
            <a:avLst/>
          </a:prstGeom>
          <a:solidFill>
            <a:srgbClr val="0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Price List (CNC Plotter Components)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3840480" cy="4206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/  المنتج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1463040" cy="4206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86868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 /  الكمية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868680"/>
            <a:ext cx="2377440" cy="4206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86868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/  السعر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289304"/>
            <a:ext cx="384048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1289304"/>
            <a:ext cx="3730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 (405g)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289304"/>
            <a:ext cx="146304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1728" y="1289304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9304"/>
            <a:ext cx="237744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4768" y="1289304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1,215 EGP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1764792"/>
            <a:ext cx="384048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1764792"/>
            <a:ext cx="3730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9V / 1A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764792"/>
            <a:ext cx="14630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81728" y="1764792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764792"/>
            <a:ext cx="23774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44768" y="1764792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EGP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2240280"/>
            <a:ext cx="384048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2240280"/>
            <a:ext cx="3730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2240280"/>
            <a:ext cx="146304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81728" y="2240280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240280"/>
            <a:ext cx="237744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2240280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EGP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2715768"/>
            <a:ext cx="384048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1248" y="2715768"/>
            <a:ext cx="3730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Motor + Driver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715768"/>
            <a:ext cx="14630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81728" y="2715768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2715768"/>
            <a:ext cx="23774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44768" y="2715768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EGP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3191256"/>
            <a:ext cx="384048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1248" y="3191256"/>
            <a:ext cx="3730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0" y="3191256"/>
            <a:ext cx="146304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81728" y="319125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35040" y="3191256"/>
            <a:ext cx="2377440" cy="475488"/>
          </a:xfrm>
          <a:prstGeom prst="rect">
            <a:avLst/>
          </a:prstGeom>
          <a:solidFill>
            <a:srgbClr val="0F1C2D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44768" y="3191256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EGP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3666744"/>
            <a:ext cx="384048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1248" y="3666744"/>
            <a:ext cx="3730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0" y="3666744"/>
            <a:ext cx="14630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81728" y="3666744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35040" y="3666744"/>
            <a:ext cx="23774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44768" y="3666744"/>
            <a:ext cx="2267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EGP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" y="4142232"/>
            <a:ext cx="3840480" cy="548640"/>
          </a:xfrm>
          <a:prstGeom prst="rect">
            <a:avLst/>
          </a:prstGeom>
          <a:solidFill>
            <a:srgbClr val="0C2A1A"/>
          </a:solidFill>
          <a:ln w="15240">
            <a:solidFill>
              <a:srgbClr val="32D7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41248" y="4142232"/>
            <a:ext cx="3730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D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/  الإجمالي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0" y="4142232"/>
            <a:ext cx="1463040" cy="548640"/>
          </a:xfrm>
          <a:prstGeom prst="rect">
            <a:avLst/>
          </a:prstGeom>
          <a:solidFill>
            <a:srgbClr val="0C2A1A"/>
          </a:solidFill>
          <a:ln w="15240">
            <a:solidFill>
              <a:srgbClr val="32D7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81728" y="4142232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D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pcs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35040" y="4142232"/>
            <a:ext cx="2377440" cy="548640"/>
          </a:xfrm>
          <a:prstGeom prst="rect">
            <a:avLst/>
          </a:prstGeom>
          <a:solidFill>
            <a:srgbClr val="0C2A1A"/>
          </a:solidFill>
          <a:ln w="15240">
            <a:solidFill>
              <a:srgbClr val="32D7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44768" y="414223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D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1,955 EGP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31520" y="4761410"/>
            <a:ext cx="7680960" cy="382089"/>
          </a:xfrm>
          <a:prstGeom prst="rect">
            <a:avLst/>
          </a:prstGeom>
          <a:solidFill>
            <a:srgbClr val="0C1A10"/>
          </a:solidFill>
          <a:ln w="9525">
            <a:solidFill>
              <a:srgbClr val="32D7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22960" y="4761409"/>
            <a:ext cx="7498080" cy="382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2D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Total Budget: 1,955 EGP  |  Components: 47 pcs  |  Project: CNC Plotter</a:t>
            </a:r>
            <a:endParaRPr lang="en-US" sz="1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pptB925.tm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pptB925.tmp</Template>
  <TotalTime>7257</TotalTime>
  <Words>1812</Words>
  <Application>Microsoft Office PowerPoint</Application>
  <PresentationFormat>On-screen Show (16:9)</PresentationFormat>
  <Paragraphs>229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pptB925.tmp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Still Loading - Engineering Projects</dc:title>
  <dc:subject>PptxGenJS Presentation</dc:subject>
  <dc:creator>PptxGenJS</dc:creator>
  <cp:lastModifiedBy>Anas Elkholy</cp:lastModifiedBy>
  <cp:revision>10</cp:revision>
  <dcterms:created xsi:type="dcterms:W3CDTF">2026-05-02T20:21:35Z</dcterms:created>
  <dcterms:modified xsi:type="dcterms:W3CDTF">2026-05-10T17:47:51Z</dcterms:modified>
</cp:coreProperties>
</file>